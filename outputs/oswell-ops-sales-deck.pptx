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6e0f9f65ca4387" /><Relationship Type="http://schemas.openxmlformats.org/officeDocument/2006/relationships/extended-properties" Target="/docProps/app.xml" Id="R9fdc749e7c074051" /><Relationship Type="http://schemas.openxmlformats.org/officeDocument/2006/relationships/officeDocument" Target="/ppt/presentation.xml" Id="R6467dc2733584c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d50f930d914a0b"/>
  </p:sldMasterIdLst>
  <p:notesMasterIdLst>
    <p:notesMasterId xmlns:r="http://schemas.openxmlformats.org/officeDocument/2006/relationships" r:id="Rbab580e4436e4b45"/>
  </p:notesMasterIdLst>
  <p:sldIdLst>
    <p:sldId xmlns:r="http://schemas.openxmlformats.org/officeDocument/2006/relationships" id="256" r:id="R216407cb4e6243ce"/>
    <p:sldId xmlns:r="http://schemas.openxmlformats.org/officeDocument/2006/relationships" id="257" r:id="Raa500d2c327c44e0"/>
    <p:sldId xmlns:r="http://schemas.openxmlformats.org/officeDocument/2006/relationships" id="258" r:id="R5102fd9b70364406"/>
    <p:sldId xmlns:r="http://schemas.openxmlformats.org/officeDocument/2006/relationships" id="259" r:id="Rc798a52993b5406e"/>
    <p:sldId xmlns:r="http://schemas.openxmlformats.org/officeDocument/2006/relationships" id="260" r:id="R80646690bf7a4872"/>
    <p:sldId xmlns:r="http://schemas.openxmlformats.org/officeDocument/2006/relationships" id="261" r:id="R35bdbba1977843a8"/>
    <p:sldId xmlns:r="http://schemas.openxmlformats.org/officeDocument/2006/relationships" id="262" r:id="R4616090973324c0d"/>
    <p:sldId xmlns:r="http://schemas.openxmlformats.org/officeDocument/2006/relationships" id="263" r:id="R8fa991764d31470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d2cf8056de4939" /><Relationship Type="http://schemas.openxmlformats.org/officeDocument/2006/relationships/slideMaster" Target="/ppt/slideMasters/slideMaster1.xml" Id="R59d50f930d914a0b" /><Relationship Type="http://schemas.openxmlformats.org/officeDocument/2006/relationships/notesMaster" Target="/ppt/notesMasters/notesMaster1.xml" Id="Rbab580e4436e4b45" /><Relationship Type="http://schemas.openxmlformats.org/officeDocument/2006/relationships/presProps" Target="/ppt/presProps.xml" Id="R12c08955ec3840c1" /><Relationship Type="http://schemas.openxmlformats.org/officeDocument/2006/relationships/tableStyles" Target="/ppt/tableStyles.xml" Id="R9e156359176e4a66" /><Relationship Type="http://schemas.openxmlformats.org/officeDocument/2006/relationships/slide" Target="/ppt/slides/slide1.xml" Id="R216407cb4e6243ce" /><Relationship Type="http://schemas.openxmlformats.org/officeDocument/2006/relationships/slide" Target="/ppt/slides/slide2.xml" Id="Raa500d2c327c44e0" /><Relationship Type="http://schemas.openxmlformats.org/officeDocument/2006/relationships/slide" Target="/ppt/slides/slide3.xml" Id="R5102fd9b70364406" /><Relationship Type="http://schemas.openxmlformats.org/officeDocument/2006/relationships/slide" Target="/ppt/slides/slide4.xml" Id="Rc798a52993b5406e" /><Relationship Type="http://schemas.openxmlformats.org/officeDocument/2006/relationships/slide" Target="/ppt/slides/slide5.xml" Id="R80646690bf7a4872" /><Relationship Type="http://schemas.openxmlformats.org/officeDocument/2006/relationships/slide" Target="/ppt/slides/slide6.xml" Id="R35bdbba1977843a8" /><Relationship Type="http://schemas.openxmlformats.org/officeDocument/2006/relationships/slide" Target="/ppt/slides/slide7.xml" Id="R4616090973324c0d" /><Relationship Type="http://schemas.openxmlformats.org/officeDocument/2006/relationships/slide" Target="/ppt/slides/slide8.xml" Id="R8fa991764d3147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00a443541c49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8710f273be42f8" /><Relationship Type="http://schemas.openxmlformats.org/officeDocument/2006/relationships/notesMaster" Target="/ppt/notesMasters/notesMaster1.xml" Id="R7903ad507e664d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976a1ec6d34208" /><Relationship Type="http://schemas.openxmlformats.org/officeDocument/2006/relationships/notesMaster" Target="/ppt/notesMasters/notesMaster1.xml" Id="R5aae972d78964c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609956a85e4907" /><Relationship Type="http://schemas.openxmlformats.org/officeDocument/2006/relationships/notesMaster" Target="/ppt/notesMasters/notesMaster1.xml" Id="R03ece5fad08e43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e8987666c448ec" /><Relationship Type="http://schemas.openxmlformats.org/officeDocument/2006/relationships/notesMaster" Target="/ppt/notesMasters/notesMaster1.xml" Id="R52adb111264746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4c896e99ba430e" /><Relationship Type="http://schemas.openxmlformats.org/officeDocument/2006/relationships/notesMaster" Target="/ppt/notesMasters/notesMaster1.xml" Id="Rc5cc17b664f245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fed8d6e5024203" /><Relationship Type="http://schemas.openxmlformats.org/officeDocument/2006/relationships/notesMaster" Target="/ppt/notesMasters/notesMaster1.xml" Id="R6faac4768af546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6ee93b015043f0" /><Relationship Type="http://schemas.openxmlformats.org/officeDocument/2006/relationships/notesMaster" Target="/ppt/notesMasters/notesMaster1.xml" Id="Rd5366b6581cf4e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43de3028a74fcb" /><Relationship Type="http://schemas.openxmlformats.org/officeDocument/2006/relationships/notesMaster" Target="/ppt/notesMasters/notesMaster1.xml" Id="R0d0819dfd2eb4e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ad1b2d84a946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cf4a5e6b2b465b" /><Relationship Type="http://schemas.openxmlformats.org/officeDocument/2006/relationships/slideLayout" Target="/ppt/slideLayouts/slideLayout1.xml" Id="R31a174bf6f6344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a174bf6f6344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c4bba581c4d84" /><Relationship Type="http://schemas.openxmlformats.org/officeDocument/2006/relationships/image" Target="/ppt/media/image.png" Id="R189f62720fd54672" /><Relationship Type="http://schemas.openxmlformats.org/officeDocument/2006/relationships/image" Target="/ppt/media/image2.png" Id="R901ebb45b22343a1" /><Relationship Type="http://schemas.openxmlformats.org/officeDocument/2006/relationships/notesSlide" Target="/ppt/notesSlides/notesSlide1.xml" Id="R62e9bfcec6804d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ae59b56554bb6" /><Relationship Type="http://schemas.openxmlformats.org/officeDocument/2006/relationships/image" Target="/ppt/media/image3.png" Id="R657b7b2f44b9481f" /><Relationship Type="http://schemas.openxmlformats.org/officeDocument/2006/relationships/notesSlide" Target="/ppt/notesSlides/notesSlide2.xml" Id="R915786d054bc45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f9a79dec14988" /><Relationship Type="http://schemas.openxmlformats.org/officeDocument/2006/relationships/image" Target="/ppt/media/image4.png" Id="Rf9731837498446e5" /><Relationship Type="http://schemas.openxmlformats.org/officeDocument/2006/relationships/notesSlide" Target="/ppt/notesSlides/notesSlide3.xml" Id="Re2b1dc7cc86746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4e60f500847bf" /><Relationship Type="http://schemas.openxmlformats.org/officeDocument/2006/relationships/image" Target="/ppt/media/image5.png" Id="R9af41c58358c4854" /><Relationship Type="http://schemas.openxmlformats.org/officeDocument/2006/relationships/notesSlide" Target="/ppt/notesSlides/notesSlide4.xml" Id="R5e4bbd13192b42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4594433ce4c21" /><Relationship Type="http://schemas.openxmlformats.org/officeDocument/2006/relationships/image" Target="/ppt/media/image6.png" Id="R207823fd425b4d93" /><Relationship Type="http://schemas.openxmlformats.org/officeDocument/2006/relationships/notesSlide" Target="/ppt/notesSlides/notesSlide5.xml" Id="R94cc2f9f21de4c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09ca7cb2345f6" /><Relationship Type="http://schemas.openxmlformats.org/officeDocument/2006/relationships/image" Target="/ppt/media/image7.png" Id="Rf8661692f0224a24" /><Relationship Type="http://schemas.openxmlformats.org/officeDocument/2006/relationships/notesSlide" Target="/ppt/notesSlides/notesSlide6.xml" Id="Radeb734136a94b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ee0e7faf6462a" /><Relationship Type="http://schemas.openxmlformats.org/officeDocument/2006/relationships/image" Target="/ppt/media/image8.png" Id="R85a4590ac4ce449f" /><Relationship Type="http://schemas.openxmlformats.org/officeDocument/2006/relationships/notesSlide" Target="/ppt/notesSlides/notesSlide7.xml" Id="Rbbff955c13c642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19b3fb4c84383" /><Relationship Type="http://schemas.openxmlformats.org/officeDocument/2006/relationships/image" Target="/ppt/media/image9.png" Id="R7c69f520e1c5461b" /><Relationship Type="http://schemas.openxmlformats.org/officeDocument/2006/relationships/notesSlide" Target="/ppt/notesSlides/notesSlide8.xml" Id="Raa48e7476acc48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f62720fd54672"/>
          <a:stretch xmlns:a="http://schemas.openxmlformats.org/drawingml/2006/main"/>
        </p:blipFill>
        <p:spPr>
          <a:xfrm xmlns:a="http://schemas.openxmlformats.org/drawingml/2006/main">
            <a:off x="10363200" y="1714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CCCEC-83CE-4EF2-9D0C-9ABCE550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85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F6673"/>
                </a:solidFill>
              </a:defRPr>
            </a:pPr>
            <a:r>
              <a:rPr sz="1200" b="1" i="0">
                <a:solidFill>
                  <a:srgbClr val="5F6673"/>
                </a:solidFill>
              </a:rPr>
              <a:t>OSWELL 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CA763-92A1-4ED6-BCDD-2EE40859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3"/>
                </a:solidFill>
              </a:defRPr>
            </a:pPr>
            <a:r>
              <a:rPr sz="825" b="0" i="0">
                <a:solidFill>
                  <a:srgbClr val="5F6673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34F59-1BCA-4004-87EA-51C3FD8F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14450"/>
            <a:ext cx="9525000" cy="430530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B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6122F-5E82-4FD4-9F24-02658A16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14450"/>
            <a:ext cx="9525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ebb45b22343a1"/>
          <a:stretch xmlns:a="http://schemas.openxmlformats.org/drawingml/2006/main"/>
        </p:blipFill>
        <p:spPr>
          <a:xfrm xmlns:a="http://schemas.openxmlformats.org/drawingml/2006/main">
            <a:off x="5505450" y="1981200"/>
            <a:ext cx="1181100" cy="1181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F995E-324C-4F0D-A98A-0506F906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29000"/>
            <a:ext cx="914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101114"/>
                </a:solidFill>
              </a:defRPr>
            </a:pPr>
            <a:r>
              <a:rPr sz="4350" b="1" i="0">
                <a:solidFill>
                  <a:srgbClr val="101114"/>
                </a:solidFill>
              </a:rPr>
              <a:t>Oswell Ops gives enterprise teams one control plane for AI operations</a:t>
            </a:r>
          </a:p>
        </p:txBody>
      </p:sp>
    </p:spTree>
    <p:extLst>
      <p:ext uri="{BB962C8B-B14F-4D97-AF65-F5344CB8AC3E}">
        <p14:creationId xmlns:p14="http://schemas.microsoft.com/office/powerpoint/2010/main" val="6704500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FBEC3A-14DF-4C31-8EC8-18659AA0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7C5CFF"/>
                </a:solidFill>
              </a:defRPr>
            </a:pPr>
            <a:r>
              <a:rPr sz="1050" b="1" i="0">
                <a:solidFill>
                  <a:srgbClr val="7C5CFF"/>
                </a:solidFill>
              </a:rPr>
              <a:t>The problem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b7b2f44b9481f"/>
          <a:stretch xmlns:a="http://schemas.openxmlformats.org/drawingml/2006/main"/>
        </p:blipFill>
        <p:spPr>
          <a:xfrm xmlns:a="http://schemas.openxmlformats.org/drawingml/2006/main">
            <a:off x="10363200" y="1714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7DAF7-E888-4CFC-B930-A60CD423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85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F6673"/>
                </a:solidFill>
              </a:defRPr>
            </a:pPr>
            <a:r>
              <a:rPr sz="1200" b="1" i="0">
                <a:solidFill>
                  <a:srgbClr val="5F6673"/>
                </a:solidFill>
              </a:rPr>
              <a:t>OSWELL 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7392F-4827-42FD-8D5D-C5BE7DF1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3"/>
                </a:solidFill>
              </a:defRPr>
            </a:pPr>
            <a:r>
              <a:rPr sz="825" b="0" i="0">
                <a:solidFill>
                  <a:srgbClr val="5F6673"/>
                </a:solidFill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A884C-A912-4684-A6DE-806DA5BB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01114"/>
                </a:solidFill>
              </a:defRPr>
            </a:pPr>
            <a:r>
              <a:rPr sz="2850" b="1" i="0">
                <a:solidFill>
                  <a:srgbClr val="101114"/>
                </a:solidFill>
              </a:rPr>
              <a:t>AI programs break when visibility, policy, and security live in separate tools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9969E-AE33-4D1C-8162-0C3484A5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4572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114"/>
                </a:solidFill>
              </a:defRPr>
            </a:pPr>
            <a:r>
              <a:rPr sz="2100" b="0" i="0">
                <a:solidFill>
                  <a:srgbClr val="101114"/>
                </a:solidFill>
              </a:rPr>
              <a:t>The moment copilots, agent workflows, and MCP tools reach production, teams need more than model logs and one-off dashboards.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0AC76-A4BD-41B2-9C76-9F9412CE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35B8E-5A8B-4B8B-A084-375E845D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449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01114"/>
                </a:solidFill>
              </a:defRPr>
            </a:pPr>
            <a:r>
              <a:rPr sz="1350" b="0" i="0">
                <a:solidFill>
                  <a:srgbClr val="101114"/>
                </a:solidFill>
              </a:rPr>
              <a:t>Operations teams need run health, latency, cost, and policy outcomes in one place.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DCBC6-FBF6-421B-9704-AF324B04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0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B0F48-5737-4C23-9FC6-DE1CD8B0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449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01114"/>
                </a:solidFill>
              </a:defRPr>
            </a:pPr>
            <a:r>
              <a:rPr sz="1350" b="0" i="0">
                <a:solidFill>
                  <a:srgbClr val="101114"/>
                </a:solidFill>
              </a:rPr>
              <a:t>Business owners need risky actions routed for approval before systems of record are touched.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A54F7-2D91-4BCE-ADD4-315099E6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5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F26AF-9F0C-4E87-9C53-0051DC23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449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01114"/>
                </a:solidFill>
              </a:defRPr>
            </a:pPr>
            <a:r>
              <a:rPr sz="1350" b="0" i="0">
                <a:solidFill>
                  <a:srgbClr val="101114"/>
                </a:solidFill>
              </a:rPr>
              <a:t>Security teams need identity, context, memory, and tool controls with evidence trails.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41C85-79EE-4021-88C7-8D9039FA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76400"/>
            <a:ext cx="53530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3F7"/>
          </a:solidFill>
          <a:ln xmlns:a="http://schemas.openxmlformats.org/drawingml/2006/main" w="9525">
            <a:solidFill>
              <a:srgbClr val="D7DB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C842A-51C3-494D-AAC6-FCFC7E25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812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01114"/>
                </a:solidFill>
              </a:defRPr>
            </a:pPr>
            <a:r>
              <a:rPr sz="1650" b="1" i="0">
                <a:solidFill>
                  <a:srgbClr val="101114"/>
                </a:solidFill>
              </a:rPr>
              <a:t>What leaders end up managing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B183D-9150-45F4-B087-09E74ACB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717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7C5CFF"/>
                </a:solidFill>
              </a:defRPr>
            </a:pPr>
            <a:r>
              <a:rPr sz="1275" b="1" i="0">
                <a:solidFill>
                  <a:srgbClr val="7C5CFF"/>
                </a:solidFill>
              </a:rPr>
              <a:t>Fragmented runtime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D4FDFC-52EC-420E-BC69-297BAEE2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F6673"/>
                </a:solidFill>
              </a:defRPr>
            </a:pPr>
            <a:r>
              <a:rPr sz="1125" b="0" i="0">
                <a:solidFill>
                  <a:srgbClr val="5F6673"/>
                </a:solidFill>
              </a:rPr>
              <a:t>Runs span Azure AI Foundry, Copilot Studio, Microsoft 365 Copilot, and internal apps.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BC5D0-424B-4C3A-A117-D9C06ED7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455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E3"/>
          </a:solidFill>
          <a:ln xmlns:a="http://schemas.openxmlformats.org/drawingml/2006/main" w="0">
            <a:solidFill>
              <a:srgbClr val="D7DB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56675B-40B5-4ECC-A86C-E5A20E8E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909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7C5CFF"/>
                </a:solidFill>
              </a:defRPr>
            </a:pPr>
            <a:r>
              <a:rPr sz="1275" b="1" i="0">
                <a:solidFill>
                  <a:srgbClr val="7C5CFF"/>
                </a:solidFill>
              </a:rPr>
              <a:t>Approval blind spots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7CBD03-D366-4A44-8D71-B72B6A22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9090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F6673"/>
                </a:solidFill>
              </a:defRPr>
            </a:pPr>
            <a:r>
              <a:rPr sz="1125" b="0" i="0">
                <a:solidFill>
                  <a:srgbClr val="5F6673"/>
                </a:solidFill>
              </a:rPr>
              <a:t>Critical agent actions are discovered after execution instead of before execution.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09C55F-D55D-4163-B306-806AD2CD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00500"/>
            <a:ext cx="455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E3"/>
          </a:solidFill>
          <a:ln xmlns:a="http://schemas.openxmlformats.org/drawingml/2006/main" w="0">
            <a:solidFill>
              <a:srgbClr val="D7DB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621D7E-6484-41AA-9181-D6F51F0A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00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7C5CFF"/>
                </a:solidFill>
              </a:defRPr>
            </a:pPr>
            <a:r>
              <a:rPr sz="1275" b="1" i="0">
                <a:solidFill>
                  <a:srgbClr val="7C5CFF"/>
                </a:solidFill>
              </a:rPr>
              <a:t>Security sprawl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586D39-BC9A-4752-AE93-618DE6CA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1005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F6673"/>
                </a:solidFill>
              </a:defRPr>
            </a:pPr>
            <a:r>
              <a:rPr sz="1125" b="0" i="0">
                <a:solidFill>
                  <a:srgbClr val="5F6673"/>
                </a:solidFill>
              </a:rPr>
              <a:t>Identity, MCP tools, context, and memory reviews are separated from operations.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E115BF-5049-4E3C-B5AA-5B36865F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19650"/>
            <a:ext cx="455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E3"/>
          </a:solidFill>
          <a:ln xmlns:a="http://schemas.openxmlformats.org/drawingml/2006/main" w="0">
            <a:solidFill>
              <a:srgbClr val="D7DB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BBB81D-7317-4A7E-BDCC-682FA991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292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7C5CFF"/>
                </a:solidFill>
              </a:defRPr>
            </a:pPr>
            <a:r>
              <a:rPr sz="1275" b="1" i="0">
                <a:solidFill>
                  <a:srgbClr val="7C5CFF"/>
                </a:solidFill>
              </a:rPr>
              <a:t>Release drift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69AEFB-54C8-4724-84E2-19085250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2920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F6673"/>
                </a:solidFill>
              </a:defRPr>
            </a:pPr>
            <a:r>
              <a:rPr sz="1125" b="0" i="0">
                <a:solidFill>
                  <a:srgbClr val="5F6673"/>
                </a:solidFill>
              </a:rPr>
              <a:t>Deployment, prompts, secrets, quotas, and configs change faster than governance can track.</a:t>
            </a:r>
          </a:p>
        </p:txBody>
      </p:sp>
    </p:spTree>
    <p:extLst>
      <p:ext uri="{BB962C8B-B14F-4D97-AF65-F5344CB8AC3E}">
        <p14:creationId xmlns:p14="http://schemas.microsoft.com/office/powerpoint/2010/main" val="5136386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09EFBE-A947-4B48-852C-E55CD561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7C5CFF"/>
                </a:solidFill>
              </a:defRPr>
            </a:pPr>
            <a:r>
              <a:rPr sz="1050" b="1" i="0">
                <a:solidFill>
                  <a:srgbClr val="7C5CFF"/>
                </a:solidFill>
              </a:rPr>
              <a:t>The answer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31837498446e5"/>
          <a:stretch xmlns:a="http://schemas.openxmlformats.org/drawingml/2006/main"/>
        </p:blipFill>
        <p:spPr>
          <a:xfrm xmlns:a="http://schemas.openxmlformats.org/drawingml/2006/main">
            <a:off x="10363200" y="1714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38BC4-8F03-4BF8-84DE-0F0AF99E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85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F6673"/>
                </a:solidFill>
              </a:defRPr>
            </a:pPr>
            <a:r>
              <a:rPr sz="1200" b="1" i="0">
                <a:solidFill>
                  <a:srgbClr val="5F6673"/>
                </a:solidFill>
              </a:rPr>
              <a:t>OSWELL 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7AF94-AA67-4748-9E3F-CF74FF0B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3"/>
                </a:solidFill>
              </a:defRPr>
            </a:pPr>
            <a:r>
              <a:rPr sz="825" b="0" i="0">
                <a:solidFill>
                  <a:srgbClr val="5F6673"/>
                </a:solidFill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73EEB-1C7F-41B4-ACAC-0E82F5F6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01114"/>
                </a:solidFill>
              </a:defRPr>
            </a:pPr>
            <a:r>
              <a:rPr sz="2700" b="1" i="0">
                <a:solidFill>
                  <a:srgbClr val="101114"/>
                </a:solidFill>
              </a:rPr>
              <a:t>Oswell Ops connects runtime, governance, and security in one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9B49A-CB56-40DD-82DD-4346450A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F6673"/>
                </a:solidFill>
              </a:defRPr>
            </a:pPr>
            <a:r>
              <a:rPr sz="1500" b="0" i="0">
                <a:solidFill>
                  <a:srgbClr val="5F6673"/>
                </a:solidFill>
              </a:rPr>
              <a:t>The platform follows the lifecycle of an AI action from run to review to release.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4CD13-3CC2-476E-95A5-667389AA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2133600" cy="31051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1F3F7"/>
          </a:solidFill>
          <a:ln xmlns:a="http://schemas.openxmlformats.org/drawingml/2006/main" w="9525">
            <a:solidFill>
              <a:srgbClr val="D7DB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FC645-E7F8-4AA8-B90D-2CE2567A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7C5CFF"/>
                </a:solidFill>
              </a:defRPr>
            </a:pPr>
            <a:r>
              <a:rPr sz="2100" b="1" i="0">
                <a:solidFill>
                  <a:srgbClr val="7C5C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75CD8-C934-4733-B083-1854532C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01114"/>
                </a:solidFill>
              </a:defRPr>
            </a:pPr>
            <a:r>
              <a:rPr sz="1650" b="1" i="0">
                <a:solidFill>
                  <a:srgbClr val="101114"/>
                </a:solidFill>
              </a:rPr>
              <a:t>Observe every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9554F4-647C-42DF-BFF7-3431D1D7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733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F6673"/>
                </a:solidFill>
              </a:defRPr>
            </a:pPr>
            <a:r>
              <a:rPr sz="1200" b="0" i="0">
                <a:solidFill>
                  <a:srgbClr val="5F6673"/>
                </a:solidFill>
              </a:rPr>
              <a:t>Track execution, tools, tokens, cost, latency, and policy results in real 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38F06-5557-4475-82D6-6D242F51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86000"/>
            <a:ext cx="2133600" cy="31051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EBF2"/>
          </a:solidFill>
          <a:ln xmlns:a="http://schemas.openxmlformats.org/drawingml/2006/main" w="9525">
            <a:solidFill>
              <a:srgbClr val="D7DB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24EE0-B94D-44CE-9092-2A99B9FB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336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7C5CFF"/>
                </a:solidFill>
              </a:defRPr>
            </a:pPr>
            <a:r>
              <a:rPr sz="2100" b="1" i="0">
                <a:solidFill>
                  <a:srgbClr val="7C5C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F7816-E9B6-4D38-828D-B0D0C9D7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01114"/>
                </a:solidFill>
              </a:defRPr>
            </a:pPr>
            <a:r>
              <a:rPr sz="1650" b="1" i="0">
                <a:solidFill>
                  <a:srgbClr val="101114"/>
                </a:solidFill>
              </a:rPr>
              <a:t>Gate risky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AE273-AE09-4060-8CE2-7A5D8704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1733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F6673"/>
                </a:solidFill>
              </a:defRPr>
            </a:pPr>
            <a:r>
              <a:rPr sz="1200" b="0" i="0">
                <a:solidFill>
                  <a:srgbClr val="5F6673"/>
                </a:solidFill>
              </a:rPr>
              <a:t>Route sensitive actions into approval workflows with clear SLA ownership.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F7B70E-0B04-4F16-B3B2-BFDEE0BD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86000"/>
            <a:ext cx="2133600" cy="31051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1F3F7"/>
          </a:solidFill>
          <a:ln xmlns:a="http://schemas.openxmlformats.org/drawingml/2006/main" w="9525">
            <a:solidFill>
              <a:srgbClr val="D7DB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5F871-5F53-437F-BA7A-206AED85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336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7C5CFF"/>
                </a:solidFill>
              </a:defRPr>
            </a:pPr>
            <a:r>
              <a:rPr sz="2100" b="1" i="0">
                <a:solidFill>
                  <a:srgbClr val="7C5C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14BFE-1E67-43F9-8176-7E685376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289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01114"/>
                </a:solidFill>
              </a:defRPr>
            </a:pPr>
            <a:r>
              <a:rPr sz="1650" b="1" i="0">
                <a:solidFill>
                  <a:srgbClr val="101114"/>
                </a:solidFill>
              </a:rPr>
              <a:t>Secure identities and 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91300E-FF95-4FC1-AF11-D187D4FF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29050"/>
            <a:ext cx="1733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F6673"/>
                </a:solidFill>
              </a:defRPr>
            </a:pPr>
            <a:r>
              <a:rPr sz="1200" b="0" i="0">
                <a:solidFill>
                  <a:srgbClr val="5F6673"/>
                </a:solidFill>
              </a:rPr>
              <a:t>Review agent permissions, MCP trust, egress, and least-privilege posture.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FBC21-E228-477F-8CBC-10A8ED6F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2133600" cy="31051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EBF2"/>
          </a:solidFill>
          <a:ln xmlns:a="http://schemas.openxmlformats.org/drawingml/2006/main" w="9525">
            <a:solidFill>
              <a:srgbClr val="D7DB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3D0EAC-293A-4777-886A-0AFFE03A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336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7C5CFF"/>
                </a:solidFill>
              </a:defRPr>
            </a:pPr>
            <a:r>
              <a:rPr sz="2100" b="1" i="0">
                <a:solidFill>
                  <a:srgbClr val="7C5C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281AC1-009E-43A8-97AD-D7D61EB0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01114"/>
                </a:solidFill>
              </a:defRPr>
            </a:pPr>
            <a:r>
              <a:rPr sz="1650" b="1" i="0">
                <a:solidFill>
                  <a:srgbClr val="101114"/>
                </a:solidFill>
              </a:rPr>
              <a:t>Govern context and memory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34A33E-26F2-4B37-9FAB-EF334BC2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29050"/>
            <a:ext cx="1733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F6673"/>
                </a:solidFill>
              </a:defRPr>
            </a:pPr>
            <a:r>
              <a:rPr sz="1200" b="0" i="0">
                <a:solidFill>
                  <a:srgbClr val="5F6673"/>
                </a:solidFill>
              </a:rPr>
              <a:t>Monitor prompt injection, retrieved context, shared memory, and quarantine events.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0577B9-A805-476A-9738-F6ABC0A8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86000"/>
            <a:ext cx="2133600" cy="31051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1F3F7"/>
          </a:solidFill>
          <a:ln xmlns:a="http://schemas.openxmlformats.org/drawingml/2006/main" w="9525">
            <a:solidFill>
              <a:srgbClr val="D7DB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941310-822E-4BAD-9453-3C471575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336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7C5CFF"/>
                </a:solidFill>
              </a:defRPr>
            </a:pPr>
            <a:r>
              <a:rPr sz="2100" b="1" i="0">
                <a:solidFill>
                  <a:srgbClr val="7C5C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C348BE-6626-4CBE-9FCC-82ADA0CD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289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01114"/>
                </a:solidFill>
              </a:defRPr>
            </a:pPr>
            <a:r>
              <a:rPr sz="1650" b="1" i="0">
                <a:solidFill>
                  <a:srgbClr val="101114"/>
                </a:solidFill>
              </a:rPr>
              <a:t>Release with control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A521DD-71BE-464E-B866-359B92FA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29050"/>
            <a:ext cx="1733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F6673"/>
                </a:solidFill>
              </a:defRPr>
            </a:pPr>
            <a:r>
              <a:rPr sz="1200" b="0" i="0">
                <a:solidFill>
                  <a:srgbClr val="5F6673"/>
                </a:solidFill>
              </a:rPr>
              <a:t>Keep deployment, prompts, secrets, quotas, and environment changes auditable.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94690E-57D2-4E31-A333-6AE5BF39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F6673"/>
                </a:solidFill>
              </a:defRPr>
            </a:pPr>
            <a:r>
              <a:rPr sz="1050" b="0" i="0">
                <a:solidFill>
                  <a:srgbClr val="5F6673"/>
                </a:solidFill>
              </a:rPr>
              <a:t>Designed to support Azure AI Foundry, Copilot Studio, Microsoft 365 Copilot, Power Platform, enterprise connectors, and MCP servers.</a:t>
            </a:r>
          </a:p>
        </p:txBody>
      </p:sp>
    </p:spTree>
    <p:extLst>
      <p:ext uri="{BB962C8B-B14F-4D97-AF65-F5344CB8AC3E}">
        <p14:creationId xmlns:p14="http://schemas.microsoft.com/office/powerpoint/2010/main" val="19402305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B1E84E-4A80-44EA-8983-423406CB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7C5CFF"/>
                </a:solidFill>
              </a:defRPr>
            </a:pPr>
            <a:r>
              <a:rPr sz="1050" b="1" i="0">
                <a:solidFill>
                  <a:srgbClr val="7C5CFF"/>
                </a:solidFill>
              </a:rPr>
              <a:t>What the workspace covers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f41c58358c4854"/>
          <a:stretch xmlns:a="http://schemas.openxmlformats.org/drawingml/2006/main"/>
        </p:blipFill>
        <p:spPr>
          <a:xfrm xmlns:a="http://schemas.openxmlformats.org/drawingml/2006/main">
            <a:off x="10363200" y="1714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74BEA-55B1-4561-9913-0F5BDEB5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85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F6673"/>
                </a:solidFill>
              </a:defRPr>
            </a:pPr>
            <a:r>
              <a:rPr sz="1200" b="1" i="0">
                <a:solidFill>
                  <a:srgbClr val="5F6673"/>
                </a:solidFill>
              </a:rPr>
              <a:t>OSWELL 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E6238-3D59-4C46-A956-89F0FBFF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3"/>
                </a:solidFill>
              </a:defRPr>
            </a:pPr>
            <a:r>
              <a:rPr sz="825" b="0" i="0">
                <a:solidFill>
                  <a:srgbClr val="5F6673"/>
                </a:solidFill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48BCE-9FCC-452E-8407-ACEE89A6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 i="0">
                <a:solidFill>
                  <a:srgbClr val="101114"/>
                </a:solidFill>
              </a:defRPr>
            </a:pPr>
            <a:r>
              <a:rPr sz="2625" b="1" i="0">
                <a:solidFill>
                  <a:srgbClr val="101114"/>
                </a:solidFill>
              </a:rPr>
              <a:t>One workspace covers the core controls enterprise teams need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67D30-66D4-4BF1-BB3F-221F226B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541020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1F3F7"/>
          </a:solidFill>
          <a:ln xmlns:a="http://schemas.openxmlformats.org/drawingml/2006/main" w="9525">
            <a:solidFill>
              <a:srgbClr val="D7DB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C4F78-6A5D-461E-90D1-911D1ABD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72C6E-672C-4F13-8CB4-2C795A42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01114"/>
                </a:solidFill>
              </a:defRPr>
            </a:pPr>
            <a:r>
              <a:rPr sz="1800" b="1" i="0">
                <a:solidFill>
                  <a:srgbClr val="101114"/>
                </a:solidFill>
              </a:rPr>
              <a:t>Live Runs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698B6-5BB8-4DD5-A083-865EC6EC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4895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F6673"/>
                </a:solidFill>
              </a:defRPr>
            </a:pPr>
            <a:r>
              <a:rPr sz="1275" b="0" i="0">
                <a:solidFill>
                  <a:srgbClr val="5F6673"/>
                </a:solidFill>
              </a:rPr>
              <a:t>Real-time visibility across agent activity, tool calls, tokens, cost, latency, and policy outcomes.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5BA87-7E3B-4A6A-A57E-298EB828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66900"/>
            <a:ext cx="541020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7EBF2"/>
          </a:solidFill>
          <a:ln xmlns:a="http://schemas.openxmlformats.org/drawingml/2006/main" w="9525">
            <a:solidFill>
              <a:srgbClr val="D7DB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B6E46-8E19-4C03-9015-ED784A85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95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43B30-39B4-445F-8B14-E0831A00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01114"/>
                </a:solidFill>
              </a:defRPr>
            </a:pPr>
            <a:r>
              <a:rPr sz="1800" b="1" i="0">
                <a:solidFill>
                  <a:srgbClr val="101114"/>
                </a:solidFill>
              </a:rPr>
              <a:t>Approvals and 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3DBA1-E925-44B9-8135-5AD750A8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52700"/>
            <a:ext cx="4895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F6673"/>
                </a:solidFill>
              </a:defRPr>
            </a:pPr>
            <a:r>
              <a:rPr sz="1275" b="0" i="0">
                <a:solidFill>
                  <a:srgbClr val="5F6673"/>
                </a:solidFill>
              </a:rPr>
              <a:t>High-risk actions, reviewer workflows, SLA tracking, and decision history tied back to each run.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C0F0A-21F2-43A8-A1B3-0194E295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541020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1F3F7"/>
          </a:solidFill>
          <a:ln xmlns:a="http://schemas.openxmlformats.org/drawingml/2006/main" w="9525">
            <a:solidFill>
              <a:srgbClr val="D7DB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0D1AC-6134-4307-AD5A-B3B917F8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FD4DB-EB05-419C-8706-48081E8E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01114"/>
                </a:solidFill>
              </a:defRPr>
            </a:pPr>
            <a:r>
              <a:rPr sz="1800" b="1" i="0">
                <a:solidFill>
                  <a:srgbClr val="101114"/>
                </a:solidFill>
              </a:rPr>
              <a:t>AI Security Center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F93F33-7F94-4695-B374-8D5612D2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4895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F6673"/>
                </a:solidFill>
              </a:defRPr>
            </a:pPr>
            <a:r>
              <a:rPr sz="1275" b="0" i="0">
                <a:solidFill>
                  <a:srgbClr val="5F6673"/>
                </a:solidFill>
              </a:rPr>
              <a:t>Identity, MCP tool security, context protection, memory controls, and incident response in one place.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D4E05-A2D2-4E31-A7C6-E21954A2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0"/>
            <a:ext cx="541020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7EBF2"/>
          </a:solidFill>
          <a:ln xmlns:a="http://schemas.openxmlformats.org/drawingml/2006/main" w="9525">
            <a:solidFill>
              <a:srgbClr val="D7DB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ED1235-0448-4787-B0E5-D2574EA3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29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6D14BB-CBFA-44D4-8AED-7281721D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71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01114"/>
                </a:solidFill>
              </a:defRPr>
            </a:pPr>
            <a:r>
              <a:rPr sz="1800" b="1" i="0">
                <a:solidFill>
                  <a:srgbClr val="101114"/>
                </a:solidFill>
              </a:rPr>
              <a:t>Deployment and Environment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26814B-0F30-4F58-B8A8-3EBA571D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86300"/>
            <a:ext cx="4895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F6673"/>
                </a:solidFill>
              </a:defRPr>
            </a:pPr>
            <a:r>
              <a:rPr sz="1275" b="0" i="0">
                <a:solidFill>
                  <a:srgbClr val="5F6673"/>
                </a:solidFill>
              </a:rPr>
              <a:t>Configuration, prompts, quotas, secrets, models, and release changes governed with auditability.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71165E-BE8B-4F6D-80FA-680EFAC2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722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F6673"/>
                </a:solidFill>
              </a:defRPr>
            </a:pPr>
            <a:r>
              <a:rPr sz="1125" b="0" i="0">
                <a:solidFill>
                  <a:srgbClr val="5F6673"/>
                </a:solidFill>
              </a:rPr>
              <a:t>Connectors, policies, knowledge, testing, feedback, and export workflows extend the same operating model beyond the core control surfaces.</a:t>
            </a:r>
          </a:p>
        </p:txBody>
      </p:sp>
    </p:spTree>
    <p:extLst>
      <p:ext uri="{BB962C8B-B14F-4D97-AF65-F5344CB8AC3E}">
        <p14:creationId xmlns:p14="http://schemas.microsoft.com/office/powerpoint/2010/main" val="4752941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3E9685-AFA1-4C05-895E-820C73B8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7C5CFF"/>
                </a:solidFill>
              </a:defRPr>
            </a:pPr>
            <a:r>
              <a:rPr sz="1050" b="1" i="0">
                <a:solidFill>
                  <a:srgbClr val="7C5CFF"/>
                </a:solidFill>
              </a:rPr>
              <a:t>Product proof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823fd425b4d93"/>
          <a:stretch xmlns:a="http://schemas.openxmlformats.org/drawingml/2006/main"/>
        </p:blipFill>
        <p:spPr>
          <a:xfrm xmlns:a="http://schemas.openxmlformats.org/drawingml/2006/main">
            <a:off x="10363200" y="1714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D67FE-2D37-446E-9507-0C8A4940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85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F6673"/>
                </a:solidFill>
              </a:defRPr>
            </a:pPr>
            <a:r>
              <a:rPr sz="1200" b="1" i="0">
                <a:solidFill>
                  <a:srgbClr val="5F6673"/>
                </a:solidFill>
              </a:rPr>
              <a:t>OSWELL 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DA179-D82A-4DC2-AA68-42D287CE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3"/>
                </a:solidFill>
              </a:defRPr>
            </a:pPr>
            <a:r>
              <a:rPr sz="825" b="0" i="0">
                <a:solidFill>
                  <a:srgbClr val="5F6673"/>
                </a:solidFill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F45C8-89FA-4F91-B086-A6413193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01114"/>
                </a:solidFill>
              </a:defRPr>
            </a:pPr>
            <a:r>
              <a:rPr sz="2550" b="1" i="0">
                <a:solidFill>
                  <a:srgbClr val="101114"/>
                </a:solidFill>
              </a:rPr>
              <a:t>Operational data and governance signals live in one workspace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82A5C-8EF8-4F44-8960-68C9D4BF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01114"/>
                </a:solidFill>
              </a:defRPr>
            </a:pPr>
            <a:r>
              <a:rPr sz="1800" b="0" i="0">
                <a:solidFill>
                  <a:srgbClr val="101114"/>
                </a:solidFill>
              </a:rPr>
              <a:t>Example operating baseline from the Oswell Ops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3998D-0468-4252-BDC3-E4B1B3D1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4095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F6673"/>
                </a:solidFill>
              </a:defRPr>
            </a:pPr>
            <a:r>
              <a:rPr sz="1275" b="0" i="0">
                <a:solidFill>
                  <a:srgbClr val="5F6673"/>
                </a:solidFill>
              </a:rPr>
              <a:t>These are product signals shown inside the platform today. They demonstrate the operating questions Oswell Ops can answer in one place rather than promising a customer outcome.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F9CF6-A6D7-4DB8-94F1-BF3E367A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90700"/>
            <a:ext cx="285750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1F3F7"/>
          </a:solidFill>
          <a:ln xmlns:a="http://schemas.openxmlformats.org/drawingml/2006/main" w="9525">
            <a:solidFill>
              <a:srgbClr val="D7DB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53F6C-832A-47DF-B5FC-48548AF7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9621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7C5CFF"/>
                </a:solidFill>
              </a:defRPr>
            </a:pPr>
            <a:r>
              <a:rPr sz="2550" b="1" i="0">
                <a:solidFill>
                  <a:srgbClr val="7C5CFF"/>
                </a:solidFill>
              </a:rPr>
              <a:t>12,486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49260-E146-42F6-92C3-D8C73B7D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574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1114"/>
                </a:solidFill>
              </a:defRPr>
            </a:pPr>
            <a:r>
              <a:rPr sz="1350" b="1" i="0">
                <a:solidFill>
                  <a:srgbClr val="101114"/>
                </a:solidFill>
              </a:rPr>
              <a:t>Runs monitored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D29420-55F6-4BF2-8E02-D39B0349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003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F6673"/>
                </a:solidFill>
              </a:defRPr>
            </a:pPr>
            <a:r>
              <a:rPr sz="1125" b="0" i="0">
                <a:solidFill>
                  <a:srgbClr val="5F6673"/>
                </a:solidFill>
              </a:rPr>
              <a:t>Example live activity across agents and copilots.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E08CB-9B42-4957-8CE9-B507D5CA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285750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1F3F7"/>
          </a:solidFill>
          <a:ln xmlns:a="http://schemas.openxmlformats.org/drawingml/2006/main" w="9525">
            <a:solidFill>
              <a:srgbClr val="D7DB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2DCDAA-8F70-4410-90FF-FA58F42E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621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0B981"/>
                </a:solidFill>
              </a:defRPr>
            </a:pPr>
            <a:r>
              <a:rPr sz="2550" b="1" i="0">
                <a:solidFill>
                  <a:srgbClr val="10B981"/>
                </a:solidFill>
              </a:rPr>
              <a:t>97.4%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CBD68-6726-45D3-91AD-B74EF341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574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1114"/>
                </a:solidFill>
              </a:defRPr>
            </a:pPr>
            <a:r>
              <a:rPr sz="1350" b="1" i="0">
                <a:solidFill>
                  <a:srgbClr val="101114"/>
                </a:solidFill>
              </a:rPr>
              <a:t>Success 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F969D3-B0B0-4214-AA0F-3F6D8605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003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F6673"/>
                </a:solidFill>
              </a:defRPr>
            </a:pPr>
            <a:r>
              <a:rPr sz="1125" b="0" i="0">
                <a:solidFill>
                  <a:srgbClr val="5F6673"/>
                </a:solidFill>
              </a:rPr>
              <a:t>Operational quality visible next to risk and policy state.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02FA17-FBBC-4393-93D7-82B7FE4C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38550"/>
            <a:ext cx="285750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1F3F7"/>
          </a:solidFill>
          <a:ln xmlns:a="http://schemas.openxmlformats.org/drawingml/2006/main" w="9525">
            <a:solidFill>
              <a:srgbClr val="D7DB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11074-D99A-48E6-9A90-B92F0C39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1000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563EB"/>
                </a:solidFill>
              </a:defRPr>
            </a:pPr>
            <a:r>
              <a:rPr sz="2550" b="1" i="0">
                <a:solidFill>
                  <a:srgbClr val="2563EB"/>
                </a:solidFill>
              </a:rPr>
              <a:t>93%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BF7DA3-0E0E-4F96-9344-50061277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3053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1114"/>
                </a:solidFill>
              </a:defRPr>
            </a:pPr>
            <a:r>
              <a:rPr sz="1350" b="1" i="0">
                <a:solidFill>
                  <a:srgbClr val="101114"/>
                </a:solidFill>
              </a:rPr>
              <a:t>Security 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12B359-C218-4490-A9CD-7DE7FA36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4820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F6673"/>
                </a:solidFill>
              </a:defRPr>
            </a:pPr>
            <a:r>
              <a:rPr sz="1125" b="0" i="0">
                <a:solidFill>
                  <a:srgbClr val="5F6673"/>
                </a:solidFill>
              </a:rPr>
              <a:t>Identity, context, memory, and MCP controls roll into one posture view.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E10E61-7FF6-4082-A33B-D7DA9F5E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38550"/>
            <a:ext cx="285750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1F3F7"/>
          </a:solidFill>
          <a:ln xmlns:a="http://schemas.openxmlformats.org/drawingml/2006/main" w="9525">
            <a:solidFill>
              <a:srgbClr val="D7DB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3E7231-919F-4A79-918F-10598865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1000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59E0B"/>
                </a:solidFill>
              </a:defRPr>
            </a:pPr>
            <a:r>
              <a:rPr sz="2550" b="1" i="0">
                <a:solidFill>
                  <a:srgbClr val="F59E0B"/>
                </a:solidFill>
              </a:rPr>
              <a:t>11m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C8DC8E-A834-4E11-B293-EF668B70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053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1114"/>
                </a:solidFill>
              </a:defRPr>
            </a:pPr>
            <a:r>
              <a:rPr sz="1350" b="1" i="0">
                <a:solidFill>
                  <a:srgbClr val="101114"/>
                </a:solidFill>
              </a:rPr>
              <a:t>Mean response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7ECF48-8B48-42CC-949F-2DBC74AD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4820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F6673"/>
                </a:solidFill>
              </a:defRPr>
            </a:pPr>
            <a:r>
              <a:rPr sz="1125" b="0" i="0">
                <a:solidFill>
                  <a:srgbClr val="5F6673"/>
                </a:solidFill>
              </a:rPr>
              <a:t>Security readiness is connected to response ownership and evidence.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FA6634-4A08-4DFB-AA7D-F7716E55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708AF1-278D-4290-8C44-7E9B3DCF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3924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01114"/>
                </a:solidFill>
              </a:defRPr>
            </a:pPr>
            <a:r>
              <a:rPr sz="1200" b="0" i="0">
                <a:solidFill>
                  <a:srgbClr val="101114"/>
                </a:solidFill>
              </a:rPr>
              <a:t>Live Runs spans Azure AI Foundry, Copilot Studio, App Insights, and Power Platform.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B572FA-2410-4B24-81DB-ED58C24D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1D74E1-965A-4E18-975B-47C17854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86350"/>
            <a:ext cx="3924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01114"/>
                </a:solidFill>
              </a:defRPr>
            </a:pPr>
            <a:r>
              <a:rPr sz="1200" b="0" i="0">
                <a:solidFill>
                  <a:srgbClr val="101114"/>
                </a:solidFill>
              </a:rPr>
              <a:t>Security view tracks open critical issues, risky tool calls, excess privilege, and quarantine events.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D0B691-5FD9-4669-AE57-83089FF2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72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535805-2AE8-49E7-9137-277685CC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95950"/>
            <a:ext cx="3924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01114"/>
                </a:solidFill>
              </a:defRPr>
            </a:pPr>
            <a:r>
              <a:rPr sz="1200" b="0" i="0">
                <a:solidFill>
                  <a:srgbClr val="101114"/>
                </a:solidFill>
              </a:rPr>
              <a:t>Approvals link business actions back to policy, risk, and owners.</a:t>
            </a:r>
          </a:p>
        </p:txBody>
      </p:sp>
    </p:spTree>
    <p:extLst>
      <p:ext uri="{BB962C8B-B14F-4D97-AF65-F5344CB8AC3E}">
        <p14:creationId xmlns:p14="http://schemas.microsoft.com/office/powerpoint/2010/main" val="20518426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7EFFD4-7A50-4CD8-8181-E652FAD6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7C5CFF"/>
                </a:solidFill>
              </a:defRPr>
            </a:pPr>
            <a:r>
              <a:rPr sz="1050" b="1" i="0">
                <a:solidFill>
                  <a:srgbClr val="7C5CFF"/>
                </a:solidFill>
              </a:rPr>
              <a:t>Why buyers care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61692f0224a24"/>
          <a:stretch xmlns:a="http://schemas.openxmlformats.org/drawingml/2006/main"/>
        </p:blipFill>
        <p:spPr>
          <a:xfrm xmlns:a="http://schemas.openxmlformats.org/drawingml/2006/main">
            <a:off x="10363200" y="1714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11112-67C9-4542-9963-A62BE70B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85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F6673"/>
                </a:solidFill>
              </a:defRPr>
            </a:pPr>
            <a:r>
              <a:rPr sz="1200" b="1" i="0">
                <a:solidFill>
                  <a:srgbClr val="5F6673"/>
                </a:solidFill>
              </a:rPr>
              <a:t>OSWELL 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64E43-A9EC-455B-BB09-1CD67A25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3"/>
                </a:solidFill>
              </a:defRPr>
            </a:pPr>
            <a:r>
              <a:rPr sz="825" b="0" i="0">
                <a:solidFill>
                  <a:srgbClr val="5F6673"/>
                </a:solidFill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68024-F276-4E49-8DBE-EB806715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800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01114"/>
                </a:solidFill>
              </a:defRPr>
            </a:pPr>
            <a:r>
              <a:rPr sz="2850" b="1" i="0">
                <a:solidFill>
                  <a:srgbClr val="101114"/>
                </a:solidFill>
              </a:rPr>
              <a:t>Technical teams get a shared operating view across different control needs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81453-B606-4BAF-84FC-EE350A5D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3467100" cy="299085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1F3F7"/>
          </a:solidFill>
          <a:ln xmlns:a="http://schemas.openxmlformats.org/drawingml/2006/main" w="9525">
            <a:solidFill>
              <a:srgbClr val="D7DB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4D741-170E-4125-B534-C0E92BAA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01114"/>
                </a:solidFill>
              </a:defRPr>
            </a:pPr>
            <a:r>
              <a:rPr sz="1725" b="1" i="0">
                <a:solidFill>
                  <a:srgbClr val="101114"/>
                </a:solidFill>
              </a:rPr>
              <a:t>Innovation and CIO leaders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4E3C1-DC2B-4B49-AB40-53B18156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2914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F6673"/>
                </a:solidFill>
              </a:defRPr>
            </a:pPr>
            <a:r>
              <a:rPr sz="1275" b="0" i="0">
                <a:solidFill>
                  <a:srgbClr val="5F6673"/>
                </a:solidFill>
              </a:rPr>
              <a:t>Scale copilots and agents without adding another disconnected dashboard. Oswell Ops creates one control plane for runtime, approvals, and release governance.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8F182-C507-46FD-940A-40B4BBC8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00250"/>
            <a:ext cx="3467100" cy="299085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E7EBF2"/>
          </a:solidFill>
          <a:ln xmlns:a="http://schemas.openxmlformats.org/drawingml/2006/main" w="9525">
            <a:solidFill>
              <a:srgbClr val="D7DB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E1A74-90F8-4920-8945-2E2C44DC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479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01114"/>
                </a:solidFill>
              </a:defRPr>
            </a:pPr>
            <a:r>
              <a:rPr sz="1725" b="1" i="0">
                <a:solidFill>
                  <a:srgbClr val="101114"/>
                </a:solidFill>
              </a:rPr>
              <a:t>Ops and platform teams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B9EE1-4C89-4C14-ACBE-7B8162FF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2914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F6673"/>
                </a:solidFill>
              </a:defRPr>
            </a:pPr>
            <a:r>
              <a:rPr sz="1275" b="0" i="0">
                <a:solidFill>
                  <a:srgbClr val="5F6673"/>
                </a:solidFill>
              </a:rPr>
              <a:t>Give engineering and business teams one surface for live runs, config changes, deployment state, connectors, and operational accountability.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F1DAD-4F64-4942-8D88-BFEB2F7D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00250"/>
            <a:ext cx="3467100" cy="299085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1F3F7"/>
          </a:solidFill>
          <a:ln xmlns:a="http://schemas.openxmlformats.org/drawingml/2006/main" w="9525">
            <a:solidFill>
              <a:srgbClr val="D7DB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EBF17-0B27-4206-A350-6A9B6659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479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01114"/>
                </a:solidFill>
              </a:defRPr>
            </a:pPr>
            <a:r>
              <a:rPr sz="1725" b="1" i="0">
                <a:solidFill>
                  <a:srgbClr val="101114"/>
                </a:solidFill>
              </a:rPr>
              <a:t>Security and risk teams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D25D99-5D00-4093-96AB-7BB44511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28950"/>
            <a:ext cx="2914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F6673"/>
                </a:solidFill>
              </a:defRPr>
            </a:pPr>
            <a:r>
              <a:rPr sz="1275" b="0" i="0">
                <a:solidFill>
                  <a:srgbClr val="5F6673"/>
                </a:solidFill>
              </a:rPr>
              <a:t>Enforce least privilege, context boundaries, memory controls, MCP trust, and evidence capture before incidents spread across systems.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E53C6-3F58-4BCD-AAF2-75387125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106680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3F7"/>
          </a:solidFill>
          <a:ln xmlns:a="http://schemas.openxmlformats.org/drawingml/2006/main" w="9525">
            <a:solidFill>
              <a:srgbClr val="D7DB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6312CF-D98E-48EF-84BE-07E3E6C0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1114"/>
                </a:solidFill>
              </a:defRPr>
            </a:pPr>
            <a:r>
              <a:rPr sz="1350" b="1" i="0">
                <a:solidFill>
                  <a:srgbClr val="101114"/>
                </a:solidFill>
              </a:rPr>
              <a:t>Ideal pilot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27CF5A-EF28-465E-BC5E-7EE10F56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619750"/>
            <a:ext cx="796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F6673"/>
                </a:solidFill>
              </a:defRPr>
            </a:pPr>
            <a:r>
              <a:rPr sz="1350" b="0" i="0">
                <a:solidFill>
                  <a:srgbClr val="5F6673"/>
                </a:solidFill>
              </a:rPr>
              <a:t>One business workflow, 2 to 3 agents, 3 to 5 connectors, one approval path, and one security review loop.</a:t>
            </a:r>
          </a:p>
        </p:txBody>
      </p:sp>
    </p:spTree>
    <p:extLst>
      <p:ext uri="{BB962C8B-B14F-4D97-AF65-F5344CB8AC3E}">
        <p14:creationId xmlns:p14="http://schemas.microsoft.com/office/powerpoint/2010/main" val="1301283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7EA01B-40BD-44A5-98ED-C2BFAC8A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7C5CFF"/>
                </a:solidFill>
              </a:defRPr>
            </a:pPr>
            <a:r>
              <a:rPr sz="1050" b="1" i="0">
                <a:solidFill>
                  <a:srgbClr val="7C5CFF"/>
                </a:solidFill>
              </a:rPr>
              <a:t>Next step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4590ac4ce449f"/>
          <a:stretch xmlns:a="http://schemas.openxmlformats.org/drawingml/2006/main"/>
        </p:blipFill>
        <p:spPr>
          <a:xfrm xmlns:a="http://schemas.openxmlformats.org/drawingml/2006/main">
            <a:off x="10363200" y="1714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38676-0FC2-4257-BD76-B974BF41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85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F6673"/>
                </a:solidFill>
              </a:defRPr>
            </a:pPr>
            <a:r>
              <a:rPr sz="1200" b="1" i="0">
                <a:solidFill>
                  <a:srgbClr val="5F6673"/>
                </a:solidFill>
              </a:rPr>
              <a:t>OSWELL 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6515F-01A3-4784-BAC1-D1F058C1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3"/>
                </a:solidFill>
              </a:defRPr>
            </a:pPr>
            <a:r>
              <a:rPr sz="825" b="0" i="0">
                <a:solidFill>
                  <a:srgbClr val="5F6673"/>
                </a:solidFill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85EBD-AD8F-4FAE-B855-F3E084AA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01114"/>
                </a:solidFill>
              </a:defRPr>
            </a:pPr>
            <a:r>
              <a:rPr sz="3150" b="1" i="0">
                <a:solidFill>
                  <a:srgbClr val="101114"/>
                </a:solidFill>
              </a:rPr>
              <a:t>A focused pilot shows value fast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B86F8-FCC5-4BFC-9CEE-32329E50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4953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01114"/>
                </a:solidFill>
              </a:defRPr>
            </a:pPr>
            <a:r>
              <a:rPr sz="1800" b="0" i="0">
                <a:solidFill>
                  <a:srgbClr val="101114"/>
                </a:solidFill>
              </a:rPr>
              <a:t>The fastest path is a working session around one high-value AI workflow. Oswell Ops is strongest when a team needs to connect operational visibility, governance, and security before scale creates drift.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B3044-126D-47A5-AC02-57D674E4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26B4D-A5DB-45BD-9758-769F655E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4972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01114"/>
                </a:solidFill>
              </a:defRPr>
            </a:pPr>
            <a:r>
              <a:rPr sz="1350" b="0" i="0">
                <a:solidFill>
                  <a:srgbClr val="101114"/>
                </a:solidFill>
              </a:rPr>
              <a:t>Map the agents, tools, approval points, and target environments.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52DAE5-A332-4FF7-ABD3-655DFC4A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C3561-31C5-4F14-AD18-6E2318FF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4972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01114"/>
                </a:solidFill>
              </a:defRPr>
            </a:pPr>
            <a:r>
              <a:rPr sz="1350" b="0" i="0">
                <a:solidFill>
                  <a:srgbClr val="101114"/>
                </a:solidFill>
              </a:rPr>
              <a:t>Instrument live runs and connect policy-aware approvals.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38EEF-BD05-40DC-8453-12B485E0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B8CAD-7C57-46C6-91FB-4ED3938E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4972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01114"/>
                </a:solidFill>
              </a:defRPr>
            </a:pPr>
            <a:r>
              <a:rPr sz="1350" b="0" i="0">
                <a:solidFill>
                  <a:srgbClr val="101114"/>
                </a:solidFill>
              </a:rPr>
              <a:t>Enable security reviews for identity, context, memory, and MCP tool usage.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36ADF-9A99-4308-9DA7-A1EFAFF2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A2860-0E81-439D-91BC-93DCBDAA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4972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01114"/>
                </a:solidFill>
              </a:defRPr>
            </a:pPr>
            <a:r>
              <a:rPr sz="1350" b="0" i="0">
                <a:solidFill>
                  <a:srgbClr val="101114"/>
                </a:solidFill>
              </a:rPr>
              <a:t>Review the baseline and define the rollout plan.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257CD-509D-4900-BD2D-44F13594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19250"/>
            <a:ext cx="432435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7EBF2"/>
          </a:solidFill>
          <a:ln xmlns:a="http://schemas.openxmlformats.org/drawingml/2006/main" w="9525">
            <a:solidFill>
              <a:srgbClr val="D7DB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0C92B-E29C-4994-8FC7-1D94CB7C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43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01114"/>
                </a:solidFill>
              </a:defRPr>
            </a:pPr>
            <a:r>
              <a:rPr sz="1500" b="1" i="0">
                <a:solidFill>
                  <a:srgbClr val="101114"/>
                </a:solidFill>
              </a:rPr>
              <a:t>Best fit right now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33CD2-529A-48B3-843D-98A3FE58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33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D3DB8-6830-400D-9747-EB329C60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5745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01114"/>
                </a:solidFill>
              </a:defRPr>
            </a:pPr>
            <a:r>
              <a:rPr sz="1275" b="0" i="0">
                <a:solidFill>
                  <a:srgbClr val="101114"/>
                </a:solidFill>
              </a:rPr>
              <a:t>Teams already running copilots, internal agents, or MCP-based workflows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790517-066E-47E9-96CC-C4C2E195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57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F1FA4C-E8F6-427B-BB21-0F447C9F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8135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01114"/>
                </a:solidFill>
              </a:defRPr>
            </a:pPr>
            <a:r>
              <a:rPr sz="1275" b="0" i="0">
                <a:solidFill>
                  <a:srgbClr val="101114"/>
                </a:solidFill>
              </a:rPr>
              <a:t>Environments with regulated data or high-risk business actions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1E17BD-7762-4E72-B86B-D177309F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81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FF98A2-4C59-496E-A526-1156171C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0525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01114"/>
                </a:solidFill>
              </a:defRPr>
            </a:pPr>
            <a:r>
              <a:rPr sz="1275" b="0" i="0">
                <a:solidFill>
                  <a:srgbClr val="101114"/>
                </a:solidFill>
              </a:rPr>
              <a:t>Organizations that need one view across runtime, security, and release control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E00014-A99D-4F6F-9F7D-C07670D1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05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9F7CF4-DF80-4ECB-B3A9-C3E172C8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01114"/>
                </a:solidFill>
              </a:defRPr>
            </a:pPr>
            <a:r>
              <a:rPr sz="1275" b="0" i="0">
                <a:solidFill>
                  <a:srgbClr val="101114"/>
                </a:solidFill>
              </a:rPr>
              <a:t>Programs moving from experimentation into production operations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BDD370-BE31-4F6F-BBF9-DE1892A5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981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7C5CFF"/>
                </a:solidFill>
              </a:defRPr>
            </a:pPr>
            <a:r>
              <a:rPr sz="1275" b="1" i="0">
                <a:solidFill>
                  <a:srgbClr val="7C5CFF"/>
                </a:solidFill>
              </a:rPr>
              <a:t>Recommended ask: schedule a workflow-scoping session and define the first pilot.</a:t>
            </a:r>
          </a:p>
        </p:txBody>
      </p:sp>
    </p:spTree>
    <p:extLst>
      <p:ext uri="{BB962C8B-B14F-4D97-AF65-F5344CB8AC3E}">
        <p14:creationId xmlns:p14="http://schemas.microsoft.com/office/powerpoint/2010/main" val="15550180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EB2F31-32F1-40E9-BA4C-9E4E0037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7C5CFF"/>
                </a:solidFill>
              </a:defRPr>
            </a:pPr>
            <a:r>
              <a:rPr sz="1050" b="1" i="0">
                <a:solidFill>
                  <a:srgbClr val="7C5CFF"/>
                </a:solidFill>
              </a:rPr>
              <a:t>Assessment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9f520e1c5461b"/>
          <a:stretch xmlns:a="http://schemas.openxmlformats.org/drawingml/2006/main"/>
        </p:blipFill>
        <p:spPr>
          <a:xfrm xmlns:a="http://schemas.openxmlformats.org/drawingml/2006/main">
            <a:off x="10363200" y="1714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0A722-1446-4C15-A2D0-B96E7EE1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85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F6673"/>
                </a:solidFill>
              </a:defRPr>
            </a:pPr>
            <a:r>
              <a:rPr sz="1200" b="1" i="0">
                <a:solidFill>
                  <a:srgbClr val="5F6673"/>
                </a:solidFill>
              </a:rPr>
              <a:t>OSWELL 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E1D02-6D4C-4C85-8555-FCCE449B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3"/>
                </a:solidFill>
              </a:defRPr>
            </a:pPr>
            <a:r>
              <a:rPr sz="825" b="0" i="0">
                <a:solidFill>
                  <a:srgbClr val="5F6673"/>
                </a:solidFill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F0404-6CE0-4A8F-81F4-D0CEA725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01114"/>
                </a:solidFill>
              </a:defRPr>
            </a:pPr>
            <a:r>
              <a:rPr sz="2700" b="1" i="0">
                <a:solidFill>
                  <a:srgbClr val="101114"/>
                </a:solidFill>
              </a:rPr>
              <a:t>Next, we assess your current AI system and define the first controlled rollout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14405-68C5-4808-B527-C77459F0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F6673"/>
                </a:solidFill>
              </a:defRPr>
            </a:pPr>
            <a:r>
              <a:rPr sz="1425" b="0" i="0">
                <a:solidFill>
                  <a:srgbClr val="5F6673"/>
                </a:solidFill>
              </a:rPr>
              <a:t>The goal is to understand how your current workflow runs today, where control gaps exist, and what access is required for a safe pilot.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08F5A-D3A7-4CAB-B715-8FB2727A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4914900" cy="3486150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F1F3F7"/>
          </a:solidFill>
          <a:ln xmlns:a="http://schemas.openxmlformats.org/drawingml/2006/main" w="9525">
            <a:solidFill>
              <a:srgbClr val="D7DB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D92B8-50AD-470B-8649-E00F341A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01114"/>
                </a:solidFill>
              </a:defRPr>
            </a:pPr>
            <a:r>
              <a:rPr sz="1800" b="1" i="0">
                <a:solidFill>
                  <a:srgbClr val="101114"/>
                </a:solidFill>
              </a:rPr>
              <a:t>What we will 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EA194-1F2E-45AA-AB37-35F26439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036A2-B1E4-4DF8-8DD9-CF15852A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01114"/>
                </a:solidFill>
              </a:defRPr>
            </a:pPr>
            <a:r>
              <a:rPr sz="1350" b="0" i="0">
                <a:solidFill>
                  <a:srgbClr val="101114"/>
                </a:solidFill>
              </a:rPr>
              <a:t>Review the target workflow, agents, tools, and approval points.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29CED-1D1D-461D-8A94-B7CD97C7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FF02D-BE3E-421E-B86D-36797C9E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01114"/>
                </a:solidFill>
              </a:defRPr>
            </a:pPr>
            <a:r>
              <a:rPr sz="1350" b="0" i="0">
                <a:solidFill>
                  <a:srgbClr val="101114"/>
                </a:solidFill>
              </a:rPr>
              <a:t>Assess runtime visibility, policy controls, and security posture.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19412-0AC6-4F12-85AE-6FB18E19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A9CA1C-95AE-4A95-8F98-D51B53CB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01114"/>
                </a:solidFill>
              </a:defRPr>
            </a:pPr>
            <a:r>
              <a:rPr sz="1350" b="0" i="0">
                <a:solidFill>
                  <a:srgbClr val="101114"/>
                </a:solidFill>
              </a:rPr>
              <a:t>Identify where live runs, memory, connectors, and deployments need governance.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B87209-9D83-45F4-8AF2-4054C25F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0C342-BF93-4974-AAA0-F08A4A3C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01114"/>
                </a:solidFill>
              </a:defRPr>
            </a:pPr>
            <a:r>
              <a:rPr sz="1350" b="0" i="0">
                <a:solidFill>
                  <a:srgbClr val="101114"/>
                </a:solidFill>
              </a:rPr>
              <a:t>Define the first pilot scope, owners, and success criteria.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6F7636-0718-4168-BAF1-DDAFD247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90750"/>
            <a:ext cx="5905500" cy="3486150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E7EBF2"/>
          </a:solidFill>
          <a:ln xmlns:a="http://schemas.openxmlformats.org/drawingml/2006/main" w="9525">
            <a:solidFill>
              <a:srgbClr val="D7DB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10D39-5A24-4B75-B102-1C47F3C4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955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01114"/>
                </a:solidFill>
              </a:defRPr>
            </a:pPr>
            <a:r>
              <a:rPr sz="1800" b="1" i="0">
                <a:solidFill>
                  <a:srgbClr val="101114"/>
                </a:solidFill>
              </a:rPr>
              <a:t>What we will need from you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1A2B27-57E7-40A2-AC10-09C9BAF5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43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75C492-2689-4A1A-B548-7027E3F1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67050"/>
            <a:ext cx="4972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01114"/>
                </a:solidFill>
              </a:defRPr>
            </a:pPr>
            <a:r>
              <a:rPr sz="1350" b="0" i="0">
                <a:solidFill>
                  <a:srgbClr val="101114"/>
                </a:solidFill>
              </a:rPr>
              <a:t>Permission to review the selected workflow and supporting system details.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DC4183-3C73-4296-829E-F7A2F5EE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544E82-3B93-491B-A0E0-2EA5986F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4972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01114"/>
                </a:solidFill>
              </a:defRPr>
            </a:pPr>
            <a:r>
              <a:rPr sz="1350" b="0" i="0">
                <a:solidFill>
                  <a:srgbClr val="101114"/>
                </a:solidFill>
              </a:rPr>
              <a:t>Read-only access where possible to relevant environments, logs, or dashboards.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CF1E01-06F2-4D3A-9235-12C9E8C0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38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67E312-8B0C-40E4-8503-037BA9C7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62450"/>
            <a:ext cx="4972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01114"/>
                </a:solidFill>
              </a:defRPr>
            </a:pPr>
            <a:r>
              <a:rPr sz="1350" b="0" i="0">
                <a:solidFill>
                  <a:srgbClr val="101114"/>
                </a:solidFill>
              </a:rPr>
              <a:t>Basic connector, agent, and tool inventory for the workflow in scope.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CC4A4B-86DF-4450-BDA3-A7B8A717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86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0DEFBC-EB02-41F4-A86C-C5FBD1D0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10150"/>
            <a:ext cx="4972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01114"/>
                </a:solidFill>
              </a:defRPr>
            </a:pPr>
            <a:r>
              <a:rPr sz="1350" b="0" i="0">
                <a:solidFill>
                  <a:srgbClr val="101114"/>
                </a:solidFill>
              </a:rPr>
              <a:t>Key owners for approvals, security review, and operational sign-off.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706049-D13E-4776-871C-F9F5AD2E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11252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1F3F7"/>
          </a:solidFill>
          <a:ln xmlns:a="http://schemas.openxmlformats.org/drawingml/2006/main" w="9525">
            <a:solidFill>
              <a:srgbClr val="D7DB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40B231-41AA-4779-8229-EF9B734E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34100"/>
            <a:ext cx="1055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F6673"/>
                </a:solidFill>
              </a:defRPr>
            </a:pPr>
            <a:r>
              <a:rPr sz="1275" b="0" i="0">
                <a:solidFill>
                  <a:srgbClr val="5F6673"/>
                </a:solidFill>
              </a:rPr>
              <a:t>Preferred approach: start with limited read-only access and one workflow, then expand only after the initial assessment is complete.</a:t>
            </a:r>
          </a:p>
        </p:txBody>
      </p:sp>
    </p:spTree>
    <p:extLst>
      <p:ext uri="{BB962C8B-B14F-4D97-AF65-F5344CB8AC3E}">
        <p14:creationId xmlns:p14="http://schemas.microsoft.com/office/powerpoint/2010/main" val="15938227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2026-08-23T07:51:09.2560000Z</dcterms:created>
  <dcterms:modified xsi:type="dcterms:W3CDTF">2026-08-23T07:51:09.2560000Z</dcterms:modified>
</coreProperties>
</file>